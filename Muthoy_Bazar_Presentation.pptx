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77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Muthoy Bazar, a MERN-stack grocery and household-essentials e-commerce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the project is and who uses it. Customers shop; administrators manage the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ten major capabilities. These are all taken from the project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Layer-by-layer stack. Only technologies listed in the documentation are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request from the user down to MongoDB. JWT secures requests and Multer handles image uploads.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roles: customer and administrator. Admin features require an admin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steps from registration to order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endpoints need both a valid JWT and the admin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Mongoose models stored in MongoDB. Fields shown are a summary of the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layout of the shop page (placeholders, not real data), plus the documented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is implemented, what is recommended for production, and be upfront about the documented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Mobile Banking only records the selected method; no payment gateway is integrated.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Selected endpoints only. Protected routes need the Authorization: Bearer token header.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and server are separate packages: the React app talks to the Express API over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documented smoke-test sequence during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documented future work and the conclusion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4.png"/><Relationship Id="rId10" Type="http://schemas.openxmlformats.org/officeDocument/2006/relationships/image" Target="../media/image24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3.png"/><Relationship Id="rId5" Type="http://schemas.openxmlformats.org/officeDocument/2006/relationships/image" Target="../media/image15.png"/><Relationship Id="rId10" Type="http://schemas.openxmlformats.org/officeDocument/2006/relationships/image" Target="../media/image16.png"/><Relationship Id="rId4" Type="http://schemas.openxmlformats.org/officeDocument/2006/relationships/image" Target="../media/image28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2.png"/><Relationship Id="rId5" Type="http://schemas.openxmlformats.org/officeDocument/2006/relationships/image" Target="../media/image13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E0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PROJECT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Muthoy Bazar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&amp; Household Essentials E-Commerce System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46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Sabiqunnahar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58444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B210101016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2277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Computer Science and Engineering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26110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Chanpur Science and Technology University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5994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CSE 3202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9377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Title: Software Engineering Sessional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2760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Name: Md. Jahidul Islam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503920" y="1097280"/>
            <a:ext cx="3291840" cy="32918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4" name="Image 0" descr="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011680"/>
            <a:ext cx="1463040" cy="1463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55280" y="3931920"/>
            <a:ext cx="822960" cy="822960"/>
          </a:xfrm>
          <a:prstGeom prst="ellipse">
            <a:avLst/>
          </a:prstGeom>
          <a:solidFill>
            <a:srgbClr val="0D5A61"/>
          </a:solidFill>
          <a:ln w="3175">
            <a:solidFill>
              <a:srgbClr val="0D5A61"/>
            </a:solidFill>
            <a:prstDash val="solid"/>
          </a:ln>
        </p:spPr>
      </p:sp>
      <p:pic>
        <p:nvPicPr>
          <p:cNvPr id="16" name="Image 1" descr="ShoppingCar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331" y="4112971"/>
            <a:ext cx="460858" cy="46085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972800" y="822960"/>
            <a:ext cx="822960" cy="822960"/>
          </a:xfrm>
          <a:prstGeom prst="ellipse">
            <a:avLst/>
          </a:prstGeom>
          <a:solidFill>
            <a:srgbClr val="0D5A61"/>
          </a:solidFill>
          <a:ln w="3175">
            <a:solidFill>
              <a:srgbClr val="0D5A61"/>
            </a:solidFill>
            <a:prstDash val="solid"/>
          </a:ln>
        </p:spPr>
      </p:sp>
      <p:pic>
        <p:nvPicPr>
          <p:cNvPr id="18" name="Image 2" descr="Tag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3851" y="1004011"/>
            <a:ext cx="460858" cy="46085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1247120" y="3566160"/>
            <a:ext cx="822960" cy="822960"/>
          </a:xfrm>
          <a:prstGeom prst="ellipse">
            <a:avLst/>
          </a:prstGeom>
          <a:solidFill>
            <a:srgbClr val="0D5A61"/>
          </a:solidFill>
          <a:ln w="3175">
            <a:solidFill>
              <a:srgbClr val="0D5A61"/>
            </a:solidFill>
            <a:prstDash val="solid"/>
          </a:ln>
        </p:spPr>
      </p:sp>
      <p:pic>
        <p:nvPicPr>
          <p:cNvPr id="20" name="Image 3" descr="BoxOpe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8171" y="3747211"/>
            <a:ext cx="460858" cy="46085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138160" y="731520"/>
            <a:ext cx="822960" cy="822960"/>
          </a:xfrm>
          <a:prstGeom prst="ellipse">
            <a:avLst/>
          </a:prstGeom>
          <a:solidFill>
            <a:srgbClr val="0D5A61"/>
          </a:solidFill>
          <a:ln w="3175">
            <a:solidFill>
              <a:srgbClr val="0D5A61"/>
            </a:solidFill>
            <a:prstDash val="solid"/>
          </a:ln>
        </p:spPr>
      </p:sp>
      <p:pic>
        <p:nvPicPr>
          <p:cNvPr id="22" name="Image 4" descr="Truck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9211" y="912571"/>
            <a:ext cx="460858" cy="46085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1381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e-commerce  |  Customer + Admin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9" name="Image 1" descr="Leaf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1703527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00200" y="14173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</a:t>
            </a:r>
            <a:r>
              <a:rPr lang="en-US" sz="20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full-stack grocery and household-essentials e-commerce application built with the MERN stack.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548640" y="2697480"/>
            <a:ext cx="533095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22960" y="2926080"/>
            <a:ext cx="640080" cy="64008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3" name="Image 2" descr="Us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8" y="3066898"/>
            <a:ext cx="358445" cy="35844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4592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can</a:t>
            </a:r>
            <a:endParaRPr lang="en-US" sz="2400" dirty="0"/>
          </a:p>
        </p:txBody>
      </p:sp>
      <p:sp>
        <p:nvSpPr>
          <p:cNvPr id="15" name="Text 9"/>
          <p:cNvSpPr txBox="1"/>
          <p:nvPr/>
        </p:nvSpPr>
        <p:spPr>
          <a:xfrm>
            <a:off x="914400" y="38404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 persistent cart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products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309360" y="2697480"/>
            <a:ext cx="533095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583680" y="2926080"/>
            <a:ext cx="640080" cy="64008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8" name="Image 3" descr="UserShiel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498" y="3066898"/>
            <a:ext cx="358445" cy="35844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0664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Administrators can</a:t>
            </a:r>
            <a:endParaRPr lang="en-US" sz="2400" dirty="0"/>
          </a:p>
        </p:txBody>
      </p:sp>
      <p:sp>
        <p:nvSpPr>
          <p:cNvPr id="20" name="Text 13"/>
          <p:cNvSpPr txBox="1"/>
          <p:nvPr/>
        </p:nvSpPr>
        <p:spPr>
          <a:xfrm>
            <a:off x="6675120" y="38404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categories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orders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Objectives &amp; 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46304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07008" y="1691640"/>
            <a:ext cx="731520" cy="7315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9" name="Image 1" descr="BoxOpe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942" y="1852574"/>
            <a:ext cx="409651" cy="40965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85800" y="2560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browsing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2807208" y="146304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465576" y="1691640"/>
            <a:ext cx="731520" cy="7315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3" name="Image 2" descr="Search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6510" y="1852574"/>
            <a:ext cx="409651" cy="40965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944368" y="2560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filtering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065776" y="146304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724144" y="1691640"/>
            <a:ext cx="731520" cy="7315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7" name="Image 3" descr="Sta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078" y="1852574"/>
            <a:ext cx="409651" cy="409651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02936" y="2560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 and reviews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7324344" y="146304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7982712" y="1691640"/>
            <a:ext cx="731520" cy="7315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1" name="Image 4" descr="UserPlu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3646" y="1852574"/>
            <a:ext cx="409651" cy="409651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461504" y="2560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/ login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9582912" y="146304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10241280" y="1691640"/>
            <a:ext cx="731520" cy="7315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5" name="Image 5" descr="ShoppingCar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2214" y="1852574"/>
            <a:ext cx="409651" cy="409651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720072" y="2560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shopping cart</a:t>
            </a:r>
            <a:endParaRPr lang="en-US" sz="1600" dirty="0"/>
          </a:p>
        </p:txBody>
      </p:sp>
      <p:sp>
        <p:nvSpPr>
          <p:cNvPr id="27" name="Shape 18"/>
          <p:cNvSpPr/>
          <p:nvPr/>
        </p:nvSpPr>
        <p:spPr>
          <a:xfrm>
            <a:off x="548640" y="3840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1207008" y="4069080"/>
            <a:ext cx="731520" cy="7315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9" name="Image 6" descr="ClipboardLis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7942" y="4230014"/>
            <a:ext cx="409651" cy="409651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85800" y="4937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and order history</a:t>
            </a:r>
            <a:endParaRPr lang="en-US" sz="1600" dirty="0"/>
          </a:p>
        </p:txBody>
      </p:sp>
      <p:sp>
        <p:nvSpPr>
          <p:cNvPr id="31" name="Shape 21"/>
          <p:cNvSpPr/>
          <p:nvPr/>
        </p:nvSpPr>
        <p:spPr>
          <a:xfrm>
            <a:off x="2807208" y="3840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3465576" y="4069080"/>
            <a:ext cx="731520" cy="7315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3" name="Image 7" descr="TicketAlt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6510" y="4230014"/>
            <a:ext cx="409651" cy="409651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2944368" y="4937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support</a:t>
            </a:r>
            <a:endParaRPr lang="en-US" sz="1600" dirty="0"/>
          </a:p>
        </p:txBody>
      </p:sp>
      <p:sp>
        <p:nvSpPr>
          <p:cNvPr id="35" name="Shape 24"/>
          <p:cNvSpPr/>
          <p:nvPr/>
        </p:nvSpPr>
        <p:spPr>
          <a:xfrm>
            <a:off x="5065776" y="3840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5724144" y="4069080"/>
            <a:ext cx="731520" cy="7315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7" name="Image 8" descr="MoneyBillWave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85078" y="4230014"/>
            <a:ext cx="409651" cy="409651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5202936" y="4937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and Mobile Banking</a:t>
            </a:r>
            <a:endParaRPr lang="en-US" sz="1600" dirty="0"/>
          </a:p>
        </p:txBody>
      </p:sp>
      <p:sp>
        <p:nvSpPr>
          <p:cNvPr id="39" name="Shape 27"/>
          <p:cNvSpPr/>
          <p:nvPr/>
        </p:nvSpPr>
        <p:spPr>
          <a:xfrm>
            <a:off x="7324344" y="3840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7982712" y="4069080"/>
            <a:ext cx="731520" cy="7315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1" name="Image 9" descr="TachometerAlt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43646" y="4230014"/>
            <a:ext cx="409651" cy="409651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7461504" y="4937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43" name="Shape 30"/>
          <p:cNvSpPr/>
          <p:nvPr/>
        </p:nvSpPr>
        <p:spPr>
          <a:xfrm>
            <a:off x="9582912" y="3840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44" name="Shape 31"/>
          <p:cNvSpPr/>
          <p:nvPr/>
        </p:nvSpPr>
        <p:spPr>
          <a:xfrm>
            <a:off x="10241280" y="4069080"/>
            <a:ext cx="731520" cy="7315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5" name="Image 10" descr="Cogs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02214" y="4230014"/>
            <a:ext cx="409651" cy="409651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9720072" y="49377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category / order / user management</a:t>
            </a:r>
            <a:endParaRPr lang="en-US" sz="16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9" name="Image 1" descr="Reac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1" y="1629461"/>
            <a:ext cx="307238" cy="3072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1732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3383280" y="1554480"/>
            <a:ext cx="1100938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3383280" y="1554480"/>
            <a:ext cx="110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593946" y="1554480"/>
            <a:ext cx="1583741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593946" y="1554480"/>
            <a:ext cx="1583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6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287414" y="1554480"/>
            <a:ext cx="1342339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287414" y="1554480"/>
            <a:ext cx="1342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7739482" y="1554480"/>
            <a:ext cx="859536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739482" y="1554480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708746" y="1554480"/>
            <a:ext cx="1744675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708746" y="1554480"/>
            <a:ext cx="174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React App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23317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5800" y="246888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3" name="Image 2" descr="Serv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1" y="258958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3383280" y="2514600"/>
            <a:ext cx="1020470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3383280" y="2514600"/>
            <a:ext cx="1020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13478" y="2514600"/>
            <a:ext cx="1181405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513478" y="2514600"/>
            <a:ext cx="1181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5804611" y="2514600"/>
            <a:ext cx="1261872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804611" y="25146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8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548640" y="32918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85800" y="342900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3" name="Image 3" descr="Databas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01" y="3549701"/>
            <a:ext cx="307238" cy="30723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417320" y="3291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000" dirty="0"/>
          </a:p>
        </p:txBody>
      </p:sp>
      <p:sp>
        <p:nvSpPr>
          <p:cNvPr id="35" name="Shape 28"/>
          <p:cNvSpPr/>
          <p:nvPr/>
        </p:nvSpPr>
        <p:spPr>
          <a:xfrm>
            <a:off x="3383280" y="3474720"/>
            <a:ext cx="1020470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3383280" y="3474720"/>
            <a:ext cx="1020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548640" y="42519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85800" y="438912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9" name="Image 4" descr="Lock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501" y="4509821"/>
            <a:ext cx="307238" cy="307238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417320" y="4251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2000" dirty="0"/>
          </a:p>
        </p:txBody>
      </p:sp>
      <p:sp>
        <p:nvSpPr>
          <p:cNvPr id="41" name="Shape 33"/>
          <p:cNvSpPr/>
          <p:nvPr/>
        </p:nvSpPr>
        <p:spPr>
          <a:xfrm>
            <a:off x="3383280" y="4434840"/>
            <a:ext cx="698602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3383280" y="4434840"/>
            <a:ext cx="698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500" dirty="0"/>
          </a:p>
        </p:txBody>
      </p:sp>
      <p:sp>
        <p:nvSpPr>
          <p:cNvPr id="43" name="Shape 35"/>
          <p:cNvSpPr/>
          <p:nvPr/>
        </p:nvSpPr>
        <p:spPr>
          <a:xfrm>
            <a:off x="4191610" y="4434840"/>
            <a:ext cx="1100938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4191610" y="4434840"/>
            <a:ext cx="110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500" dirty="0"/>
          </a:p>
        </p:txBody>
      </p:sp>
      <p:sp>
        <p:nvSpPr>
          <p:cNvPr id="45" name="Shape 37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85800" y="534924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7" name="Image 5" descr="Cogs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501" y="5469941"/>
            <a:ext cx="307238" cy="307238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1417320" y="5212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</a:t>
            </a:r>
            <a:endParaRPr lang="en-US" sz="2000" dirty="0"/>
          </a:p>
        </p:txBody>
      </p:sp>
      <p:sp>
        <p:nvSpPr>
          <p:cNvPr id="49" name="Shape 40"/>
          <p:cNvSpPr/>
          <p:nvPr/>
        </p:nvSpPr>
        <p:spPr>
          <a:xfrm>
            <a:off x="3383280" y="5394960"/>
            <a:ext cx="940003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3383280" y="5394960"/>
            <a:ext cx="94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</a:t>
            </a:r>
            <a:endParaRPr lang="en-US" sz="1500" dirty="0"/>
          </a:p>
        </p:txBody>
      </p:sp>
      <p:sp>
        <p:nvSpPr>
          <p:cNvPr id="51" name="Shape 42"/>
          <p:cNvSpPr/>
          <p:nvPr/>
        </p:nvSpPr>
        <p:spPr>
          <a:xfrm>
            <a:off x="4433011" y="5394960"/>
            <a:ext cx="1825142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4433011" y="5394960"/>
            <a:ext cx="1825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express-validator</a:t>
            </a:r>
            <a:endParaRPr lang="en-US" sz="1500" dirty="0"/>
          </a:p>
        </p:txBody>
      </p:sp>
      <p:sp>
        <p:nvSpPr>
          <p:cNvPr id="53" name="Shape 44"/>
          <p:cNvSpPr/>
          <p:nvPr/>
        </p:nvSpPr>
        <p:spPr>
          <a:xfrm>
            <a:off x="6367882" y="5394960"/>
            <a:ext cx="1020470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6367882" y="5394960"/>
            <a:ext cx="1020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slugify</a:t>
            </a:r>
            <a:endParaRPr lang="en-US" sz="1500" dirty="0"/>
          </a:p>
        </p:txBody>
      </p:sp>
      <p:sp>
        <p:nvSpPr>
          <p:cNvPr id="55" name="Shape 46"/>
          <p:cNvSpPr/>
          <p:nvPr/>
        </p:nvSpPr>
        <p:spPr>
          <a:xfrm>
            <a:off x="7498080" y="5394960"/>
            <a:ext cx="940003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7498080" y="5394960"/>
            <a:ext cx="94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endParaRPr lang="en-US" sz="1500" dirty="0"/>
          </a:p>
        </p:txBody>
      </p:sp>
      <p:sp>
        <p:nvSpPr>
          <p:cNvPr id="57" name="Shape 48"/>
          <p:cNvSpPr/>
          <p:nvPr/>
        </p:nvSpPr>
        <p:spPr>
          <a:xfrm>
            <a:off x="8547811" y="5394960"/>
            <a:ext cx="779069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8547811" y="5394960"/>
            <a:ext cx="7790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500" dirty="0"/>
          </a:p>
        </p:txBody>
      </p:sp>
      <p:sp>
        <p:nvSpPr>
          <p:cNvPr id="59" name="Shape 50"/>
          <p:cNvSpPr/>
          <p:nvPr/>
        </p:nvSpPr>
        <p:spPr>
          <a:xfrm>
            <a:off x="9436608" y="5394960"/>
            <a:ext cx="940003" cy="4572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9436608" y="5394960"/>
            <a:ext cx="94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</a:t>
            </a:r>
            <a:endParaRPr lang="en-US" sz="15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73736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E6F3F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173736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Admin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2121408" y="2286000"/>
            <a:ext cx="29260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450592" y="173736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E6F3F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523744" y="173736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023360" y="2286000"/>
            <a:ext cx="29260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52544" y="173736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25696" y="173736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/ REST API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925312" y="2286000"/>
            <a:ext cx="29260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4496" y="173736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327648" y="173736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Backend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827264" y="2286000"/>
            <a:ext cx="29260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56448" y="173736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29600" y="173736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9729216" y="2286000"/>
            <a:ext cx="29260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058400" y="1737360"/>
            <a:ext cx="1536192" cy="1371600"/>
          </a:xfrm>
          <a:prstGeom prst="roundRect">
            <a:avLst>
              <a:gd name="adj" fmla="val 6667"/>
            </a:avLst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131552" y="173736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120640" y="3108960"/>
            <a:ext cx="0" cy="640080"/>
          </a:xfrm>
          <a:prstGeom prst="line">
            <a:avLst/>
          </a:prstGeom>
          <a:noFill/>
          <a:ln w="25400">
            <a:solidFill>
              <a:srgbClr val="00838F"/>
            </a:solidFill>
            <a:prstDash val="dash"/>
          </a:ln>
        </p:spPr>
      </p:sp>
      <p:sp>
        <p:nvSpPr>
          <p:cNvPr id="25" name="Shape 21"/>
          <p:cNvSpPr/>
          <p:nvPr/>
        </p:nvSpPr>
        <p:spPr>
          <a:xfrm>
            <a:off x="1463040" y="3749040"/>
            <a:ext cx="4754880" cy="2103120"/>
          </a:xfrm>
          <a:prstGeom prst="roundRect">
            <a:avLst>
              <a:gd name="adj" fmla="val 434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737360" y="3977640"/>
            <a:ext cx="640080" cy="64008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7" name="Image 1" descr="Lo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178" y="4118458"/>
            <a:ext cx="358445" cy="35844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560320" y="3977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authentication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1737360" y="47548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 attaches the JWT as a Bearer token; Express middleware verifies the token and role.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7022592" y="3108960"/>
            <a:ext cx="0" cy="640080"/>
          </a:xfrm>
          <a:prstGeom prst="line">
            <a:avLst/>
          </a:prstGeom>
          <a:noFill/>
          <a:ln w="25400">
            <a:solidFill>
              <a:srgbClr val="00838F"/>
            </a:solidFill>
            <a:prstDash val="dash"/>
          </a:ln>
        </p:spPr>
      </p:sp>
      <p:sp>
        <p:nvSpPr>
          <p:cNvPr id="31" name="Shape 26"/>
          <p:cNvSpPr/>
          <p:nvPr/>
        </p:nvSpPr>
        <p:spPr>
          <a:xfrm>
            <a:off x="6583680" y="3749040"/>
            <a:ext cx="4754880" cy="2103120"/>
          </a:xfrm>
          <a:prstGeom prst="roundRect">
            <a:avLst>
              <a:gd name="adj" fmla="val 434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858000" y="3977640"/>
            <a:ext cx="640080" cy="64008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3" name="Image 2" descr="Uploa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8818" y="4118458"/>
            <a:ext cx="358445" cy="35844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680960" y="3977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Multer file uploads</a:t>
            </a:r>
            <a:endParaRPr lang="en-US" sz="2000" dirty="0"/>
          </a:p>
        </p:txBody>
      </p:sp>
      <p:sp>
        <p:nvSpPr>
          <p:cNvPr id="35" name="Text 29"/>
          <p:cNvSpPr txBox="1"/>
          <p:nvPr/>
        </p:nvSpPr>
        <p:spPr>
          <a:xfrm>
            <a:off x="6858000" y="47548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product forms upload up to five images, stored in server/uploads and served from /uploads.</a:t>
            </a:r>
            <a:endParaRPr lang="en-US" sz="15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5330952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9" name="Image 1" descr="Us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1695298"/>
            <a:ext cx="358445" cy="35844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4592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2600" dirty="0"/>
          </a:p>
        </p:txBody>
      </p:sp>
      <p:sp>
        <p:nvSpPr>
          <p:cNvPr id="11" name="Text 6"/>
          <p:cNvSpPr txBox="1"/>
          <p:nvPr/>
        </p:nvSpPr>
        <p:spPr>
          <a:xfrm>
            <a:off x="914400" y="237744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filter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cart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coupon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cancel eligible orders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/ delete own reviews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309360" y="1371600"/>
            <a:ext cx="5330952" cy="4754880"/>
          </a:xfrm>
          <a:prstGeom prst="roundRect">
            <a:avLst>
              <a:gd name="adj" fmla="val 1923"/>
            </a:avLst>
          </a:prstGeom>
          <a:solidFill>
            <a:srgbClr val="E6F3F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583680" y="1554480"/>
            <a:ext cx="640080" cy="640080"/>
          </a:xfrm>
          <a:prstGeom prst="ellipse">
            <a:avLst/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pic>
        <p:nvPicPr>
          <p:cNvPr id="14" name="Image 2" descr="UserShiel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498" y="1695298"/>
            <a:ext cx="358445" cy="35844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40664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2600" dirty="0"/>
          </a:p>
        </p:txBody>
      </p:sp>
      <p:sp>
        <p:nvSpPr>
          <p:cNvPr id="16" name="Text 10"/>
          <p:cNvSpPr txBox="1"/>
          <p:nvPr/>
        </p:nvSpPr>
        <p:spPr>
          <a:xfrm>
            <a:off x="6675120" y="237744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categories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orders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user roles / status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users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463040"/>
            <a:ext cx="1783080" cy="2011680"/>
          </a:xfrm>
          <a:prstGeom prst="roundRect">
            <a:avLst>
              <a:gd name="adj" fmla="val 512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1572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170432" y="192024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0" name="Image 1" descr="UserPlu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133" y="2040941"/>
            <a:ext cx="307238" cy="3072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0080" y="2560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2404872" y="2331720"/>
            <a:ext cx="38404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880360" y="1463040"/>
            <a:ext cx="1783080" cy="2011680"/>
          </a:xfrm>
          <a:prstGeom prst="roundRect">
            <a:avLst>
              <a:gd name="adj" fmla="val 512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880360" y="1572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502152" y="192024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6" name="Image 2" descr="BoxOpe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853" y="204094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971800" y="2560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4736592" y="2331720"/>
            <a:ext cx="38404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212080" y="1463040"/>
            <a:ext cx="1783080" cy="2011680"/>
          </a:xfrm>
          <a:prstGeom prst="roundRect">
            <a:avLst>
              <a:gd name="adj" fmla="val 512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572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833872" y="192024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2" name="Image 3" descr="Filte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4573" y="204094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03520" y="2560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Filter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7068312" y="2331720"/>
            <a:ext cx="38404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543800" y="1463040"/>
            <a:ext cx="1783080" cy="2011680"/>
          </a:xfrm>
          <a:prstGeom prst="roundRect">
            <a:avLst>
              <a:gd name="adj" fmla="val 512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7543800" y="1572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165592" y="192024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8" name="Image 4" descr="Ey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293" y="2040941"/>
            <a:ext cx="307238" cy="30723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635240" y="2560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9400032" y="2331720"/>
            <a:ext cx="38404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9875520" y="1463040"/>
            <a:ext cx="1783080" cy="2011680"/>
          </a:xfrm>
          <a:prstGeom prst="roundRect">
            <a:avLst>
              <a:gd name="adj" fmla="val 512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9875520" y="1572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10497312" y="192024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4" name="Image 5" descr="ShoppingCar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8013" y="2040941"/>
            <a:ext cx="307238" cy="30723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966960" y="2560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548640" y="3931920"/>
            <a:ext cx="1783080" cy="2011680"/>
          </a:xfrm>
          <a:prstGeom prst="roundRect">
            <a:avLst>
              <a:gd name="adj" fmla="val 512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548640" y="4041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1170432" y="438912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9" name="Image 6" descr="TicketAl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1133" y="4509821"/>
            <a:ext cx="307238" cy="307238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40080" y="5029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Coupon</a:t>
            </a:r>
            <a:endParaRPr lang="en-US" sz="1600" dirty="0"/>
          </a:p>
        </p:txBody>
      </p:sp>
      <p:sp>
        <p:nvSpPr>
          <p:cNvPr id="41" name="Shape 31"/>
          <p:cNvSpPr/>
          <p:nvPr/>
        </p:nvSpPr>
        <p:spPr>
          <a:xfrm>
            <a:off x="2404872" y="4800600"/>
            <a:ext cx="38404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2880360" y="3931920"/>
            <a:ext cx="1783080" cy="2011680"/>
          </a:xfrm>
          <a:prstGeom prst="roundRect">
            <a:avLst>
              <a:gd name="adj" fmla="val 512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2880360" y="4041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3502152" y="438912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5" name="Image 7" descr="ClipboardCheck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2853" y="4509821"/>
            <a:ext cx="307238" cy="307238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2971800" y="5029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600" dirty="0"/>
          </a:p>
        </p:txBody>
      </p:sp>
      <p:sp>
        <p:nvSpPr>
          <p:cNvPr id="47" name="Shape 36"/>
          <p:cNvSpPr/>
          <p:nvPr/>
        </p:nvSpPr>
        <p:spPr>
          <a:xfrm>
            <a:off x="4736592" y="4800600"/>
            <a:ext cx="38404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5212080" y="3931920"/>
            <a:ext cx="1783080" cy="2011680"/>
          </a:xfrm>
          <a:prstGeom prst="roundRect">
            <a:avLst>
              <a:gd name="adj" fmla="val 512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49" name="Text 38"/>
          <p:cNvSpPr txBox="1"/>
          <p:nvPr/>
        </p:nvSpPr>
        <p:spPr>
          <a:xfrm>
            <a:off x="5212080" y="4041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50" name="Shape 39"/>
          <p:cNvSpPr/>
          <p:nvPr/>
        </p:nvSpPr>
        <p:spPr>
          <a:xfrm>
            <a:off x="5833872" y="438912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51" name="Image 8" descr="CreditCard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4573" y="4509821"/>
            <a:ext cx="307238" cy="307238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5303520" y="5029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Payment Method</a:t>
            </a:r>
            <a:endParaRPr lang="en-US" sz="1600" dirty="0"/>
          </a:p>
        </p:txBody>
      </p:sp>
      <p:sp>
        <p:nvSpPr>
          <p:cNvPr id="53" name="Shape 41"/>
          <p:cNvSpPr/>
          <p:nvPr/>
        </p:nvSpPr>
        <p:spPr>
          <a:xfrm>
            <a:off x="7068312" y="4800600"/>
            <a:ext cx="38404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7543800" y="3931920"/>
            <a:ext cx="1783080" cy="2011680"/>
          </a:xfrm>
          <a:prstGeom prst="roundRect">
            <a:avLst>
              <a:gd name="adj" fmla="val 512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7543800" y="4041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56" name="Shape 44"/>
          <p:cNvSpPr/>
          <p:nvPr/>
        </p:nvSpPr>
        <p:spPr>
          <a:xfrm>
            <a:off x="8165592" y="438912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57" name="Image 9" descr="CheckCircle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6293" y="4509821"/>
            <a:ext cx="307238" cy="307238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7635240" y="5029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600" dirty="0"/>
          </a:p>
        </p:txBody>
      </p:sp>
      <p:sp>
        <p:nvSpPr>
          <p:cNvPr id="59" name="Shape 46"/>
          <p:cNvSpPr/>
          <p:nvPr/>
        </p:nvSpPr>
        <p:spPr>
          <a:xfrm>
            <a:off x="9400032" y="4800600"/>
            <a:ext cx="38404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60" name="Shape 47"/>
          <p:cNvSpPr/>
          <p:nvPr/>
        </p:nvSpPr>
        <p:spPr>
          <a:xfrm>
            <a:off x="9875520" y="3931920"/>
            <a:ext cx="1783080" cy="2011680"/>
          </a:xfrm>
          <a:prstGeom prst="roundRect">
            <a:avLst>
              <a:gd name="adj" fmla="val 512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61" name="Text 48"/>
          <p:cNvSpPr txBox="1"/>
          <p:nvPr/>
        </p:nvSpPr>
        <p:spPr>
          <a:xfrm>
            <a:off x="9875520" y="4041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200" dirty="0"/>
          </a:p>
        </p:txBody>
      </p:sp>
      <p:sp>
        <p:nvSpPr>
          <p:cNvPr id="62" name="Shape 49"/>
          <p:cNvSpPr/>
          <p:nvPr/>
        </p:nvSpPr>
        <p:spPr>
          <a:xfrm>
            <a:off x="10497312" y="438912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63" name="Image 10" descr="History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18013" y="4509821"/>
            <a:ext cx="307238" cy="307238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9966960" y="5029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6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82880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E6F3F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43000" y="201168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9" name="Image 1" descr="SignInA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701" y="2132381"/>
            <a:ext cx="307238" cy="3072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008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2359152" y="2606040"/>
            <a:ext cx="365760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798064" y="182880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E6F3F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392424" y="201168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4" name="Image 2" descr="Tachometer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3125" y="2132381"/>
            <a:ext cx="307238" cy="3072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889504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4608576" y="2606040"/>
            <a:ext cx="365760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047488" y="128016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138928" y="1417320"/>
            <a:ext cx="457200" cy="457200"/>
          </a:xfrm>
          <a:prstGeom prst="ellipse">
            <a:avLst/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pic>
        <p:nvPicPr>
          <p:cNvPr id="19" name="Image 3" descr="BoxOpe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512" y="151790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760720" y="1280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5047488" y="214884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5138928" y="2286000"/>
            <a:ext cx="457200" cy="457200"/>
          </a:xfrm>
          <a:prstGeom prst="ellipse">
            <a:avLst/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pic>
        <p:nvPicPr>
          <p:cNvPr id="23" name="Image 4" descr="Tag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9512" y="2386584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760720" y="21488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Categories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5047488" y="301752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5138928" y="3154680"/>
            <a:ext cx="457200" cy="457200"/>
          </a:xfrm>
          <a:prstGeom prst="ellipse">
            <a:avLst/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pic>
        <p:nvPicPr>
          <p:cNvPr id="27" name="Image 5" descr="Users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9512" y="3255264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760720" y="30175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600" dirty="0"/>
          </a:p>
        </p:txBody>
      </p:sp>
      <p:sp>
        <p:nvSpPr>
          <p:cNvPr id="29" name="Shape 20"/>
          <p:cNvSpPr/>
          <p:nvPr/>
        </p:nvSpPr>
        <p:spPr>
          <a:xfrm>
            <a:off x="5047488" y="388620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5138928" y="4023360"/>
            <a:ext cx="457200" cy="457200"/>
          </a:xfrm>
          <a:prstGeom prst="ellipse">
            <a:avLst/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pic>
        <p:nvPicPr>
          <p:cNvPr id="31" name="Image 6" descr="ClipboardLis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9512" y="4123944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760720" y="3886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Orders</a:t>
            </a:r>
            <a:endParaRPr lang="en-US" sz="1600" dirty="0"/>
          </a:p>
        </p:txBody>
      </p:sp>
      <p:sp>
        <p:nvSpPr>
          <p:cNvPr id="33" name="Shape 23"/>
          <p:cNvSpPr/>
          <p:nvPr/>
        </p:nvSpPr>
        <p:spPr>
          <a:xfrm>
            <a:off x="7589520" y="2606040"/>
            <a:ext cx="365760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8028432" y="182880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E6F3F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8622792" y="201168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6" name="Image 7" descr="Cogs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3493" y="2132381"/>
            <a:ext cx="307238" cy="307238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119872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Information</a:t>
            </a:r>
            <a:endParaRPr lang="en-US" sz="1600" dirty="0"/>
          </a:p>
        </p:txBody>
      </p:sp>
      <p:sp>
        <p:nvSpPr>
          <p:cNvPr id="38" name="Shape 27"/>
          <p:cNvSpPr/>
          <p:nvPr/>
        </p:nvSpPr>
        <p:spPr>
          <a:xfrm>
            <a:off x="9838944" y="2606040"/>
            <a:ext cx="365760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10277856" y="1828800"/>
            <a:ext cx="1362456" cy="1828800"/>
          </a:xfrm>
          <a:prstGeom prst="roundRect">
            <a:avLst>
              <a:gd name="adj" fmla="val 6711"/>
            </a:avLst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10684764" y="201168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1" name="Image 8" descr="Eye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05465" y="2132381"/>
            <a:ext cx="307238" cy="307238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10369296" y="2697480"/>
            <a:ext cx="1179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Order Status</a:t>
            </a:r>
            <a:endParaRPr lang="en-US" sz="1600" dirty="0"/>
          </a:p>
        </p:txBody>
      </p:sp>
      <p:sp>
        <p:nvSpPr>
          <p:cNvPr id="43" name="Shape 31"/>
          <p:cNvSpPr/>
          <p:nvPr/>
        </p:nvSpPr>
        <p:spPr>
          <a:xfrm>
            <a:off x="548640" y="493776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DEBD8"/>
          </a:solidFill>
          <a:ln w="12700">
            <a:solidFill>
              <a:srgbClr val="E07A28"/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777240" y="5120640"/>
            <a:ext cx="640080" cy="640080"/>
          </a:xfrm>
          <a:prstGeom prst="ellipse">
            <a:avLst/>
          </a:prstGeom>
          <a:solidFill>
            <a:srgbClr val="C77700"/>
          </a:solidFill>
          <a:ln w="3175">
            <a:solidFill>
              <a:srgbClr val="C77700"/>
            </a:solidFill>
            <a:prstDash val="solid"/>
          </a:ln>
        </p:spPr>
      </p:sp>
      <p:pic>
        <p:nvPicPr>
          <p:cNvPr id="45" name="Image 9" descr="Lock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058" y="5261458"/>
            <a:ext cx="358445" cy="358445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1645920" y="493776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control: </a:t>
            </a:r>
            <a:r>
              <a:rPr lang="en-US" sz="20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/api/admin endpoint requires a valid JWT and role: admin.</a:t>
            </a:r>
            <a:endParaRPr lang="en-US" sz="20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9" name="Image 1" descr="Us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1675181"/>
            <a:ext cx="307238" cy="3072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777240" y="22860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hashed password, phone, role, addresses, active status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311396" y="13716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39996" y="155448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4" name="Image 2" descr="Tag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697" y="1675181"/>
            <a:ext cx="307238" cy="3072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71516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2200" dirty="0"/>
          </a:p>
        </p:txBody>
      </p:sp>
      <p:sp>
        <p:nvSpPr>
          <p:cNvPr id="16" name="Text 10"/>
          <p:cNvSpPr txBox="1"/>
          <p:nvPr/>
        </p:nvSpPr>
        <p:spPr>
          <a:xfrm>
            <a:off x="4539996" y="22860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slug, image, active status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074152" y="13716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302752" y="155448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9" name="Image 3" descr="BoxOpe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453" y="1675181"/>
            <a:ext cx="307238" cy="30723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034272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2200" dirty="0"/>
          </a:p>
        </p:txBody>
      </p:sp>
      <p:sp>
        <p:nvSpPr>
          <p:cNvPr id="21" name="Text 14"/>
          <p:cNvSpPr txBox="1"/>
          <p:nvPr/>
        </p:nvSpPr>
        <p:spPr>
          <a:xfrm>
            <a:off x="8302752" y="22860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slug, brand, category, images, price, discount price, stock, unit, rating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548640" y="37033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4" name="Image 4" descr="ShoppingCar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941" y="4006901"/>
            <a:ext cx="307238" cy="30723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50876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</a:t>
            </a:r>
            <a:endParaRPr lang="en-US" sz="2200" dirty="0"/>
          </a:p>
        </p:txBody>
      </p:sp>
      <p:sp>
        <p:nvSpPr>
          <p:cNvPr id="26" name="Text 18"/>
          <p:cNvSpPr txBox="1"/>
          <p:nvPr/>
        </p:nvSpPr>
        <p:spPr>
          <a:xfrm>
            <a:off x="7772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items (product, quantity), selected coupon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4311396" y="37033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9996" y="388620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9" name="Image 5" descr="ClipboardLis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0697" y="4006901"/>
            <a:ext cx="307238" cy="30723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271516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2200" dirty="0"/>
          </a:p>
        </p:txBody>
      </p:sp>
      <p:sp>
        <p:nvSpPr>
          <p:cNvPr id="31" name="Text 22"/>
          <p:cNvSpPr txBox="1"/>
          <p:nvPr/>
        </p:nvSpPr>
        <p:spPr>
          <a:xfrm>
            <a:off x="4539996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order items, shipping / billing address, payment method, price summary, coupon, status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8074152" y="37033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8302752" y="388620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4" name="Image 6" descr="Star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3453" y="4006901"/>
            <a:ext cx="307238" cy="30723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034272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200" dirty="0"/>
          </a:p>
        </p:txBody>
      </p:sp>
      <p:sp>
        <p:nvSpPr>
          <p:cNvPr id="36" name="Text 26"/>
          <p:cNvSpPr txBox="1"/>
          <p:nvPr/>
        </p:nvSpPr>
        <p:spPr>
          <a:xfrm>
            <a:off x="8302752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user, rating, comment, timestamps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Relations: </a:t>
            </a: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&gt; Category  |  Cart, Order &gt; User  |  Review &gt; Product + User</a:t>
            </a:r>
            <a:endParaRPr lang="en-US" sz="15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Shopping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6126480" cy="4754880"/>
          </a:xfrm>
          <a:prstGeom prst="roundRect">
            <a:avLst>
              <a:gd name="adj" fmla="val 1923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1554480"/>
            <a:ext cx="56692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05840" y="1554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products...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77240" y="21945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2194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240280" y="21945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240280" y="2194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703320" y="21945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703320" y="2194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166360" y="21945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166360" y="2194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77240" y="2743200"/>
            <a:ext cx="1783080" cy="28346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86968" y="2852928"/>
            <a:ext cx="1563624" cy="1097280"/>
          </a:xfrm>
          <a:prstGeom prst="roundRect">
            <a:avLst>
              <a:gd name="adj" fmla="val 8333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463040" y="3127248"/>
            <a:ext cx="411480" cy="41148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1" name="Image 1" descr="Imag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566" y="3217774"/>
            <a:ext cx="230429" cy="23042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86968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86968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 |  * * * * *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86968" y="4617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--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86968" y="5029200"/>
            <a:ext cx="1563624" cy="365760"/>
          </a:xfrm>
          <a:prstGeom prst="roundRect">
            <a:avLst>
              <a:gd name="adj" fmla="val 25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86968" y="502920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2697480" y="2743200"/>
            <a:ext cx="1783080" cy="28346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807208" y="2852928"/>
            <a:ext cx="1563624" cy="1097280"/>
          </a:xfrm>
          <a:prstGeom prst="roundRect">
            <a:avLst>
              <a:gd name="adj" fmla="val 8333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383280" y="3127248"/>
            <a:ext cx="411480" cy="41148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0" name="Image 2" descr="Imag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806" y="3217774"/>
            <a:ext cx="230429" cy="230429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2807208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2807208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 |  * * * * *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2807208" y="4617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--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2807208" y="5029200"/>
            <a:ext cx="1563624" cy="365760"/>
          </a:xfrm>
          <a:prstGeom prst="roundRect">
            <a:avLst>
              <a:gd name="adj" fmla="val 25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2807208" y="502920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4617720" y="2743200"/>
            <a:ext cx="1783080" cy="283464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727448" y="2852928"/>
            <a:ext cx="1563624" cy="1097280"/>
          </a:xfrm>
          <a:prstGeom prst="roundRect">
            <a:avLst>
              <a:gd name="adj" fmla="val 8333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303520" y="3127248"/>
            <a:ext cx="411480" cy="41148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9" name="Image 3" descr="Imag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046" y="3217774"/>
            <a:ext cx="230429" cy="230429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4727448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4727448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 |  * * * * *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4727448" y="4617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--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4727448" y="5029200"/>
            <a:ext cx="1563624" cy="365760"/>
          </a:xfrm>
          <a:prstGeom prst="roundRect">
            <a:avLst>
              <a:gd name="adj" fmla="val 25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4727448" y="502920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777240" y="5669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 1   2   3  &gt;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7132320" y="1371600"/>
            <a:ext cx="4480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and brands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suggestions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brand / category filtering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and pagination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images and gallery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products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reviews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cart</a:t>
            </a:r>
            <a:endParaRPr lang="en-US" sz="16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Security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5760720" cy="3291840"/>
          </a:xfrm>
          <a:prstGeom prst="roundRect">
            <a:avLst>
              <a:gd name="adj" fmla="val 2778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0" name="Image 1" descr="Ke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15798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22960" y="2715768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3" name="Image 2" descr="Lo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2816352"/>
            <a:ext cx="256032" cy="25603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63040" y="27157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password hashing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822960" y="3374136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6" name="Image 3" descr="UserShiel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34747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463040" y="33741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customer routes and admin role-based access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822960" y="4032504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9" name="Image 4" descr="User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4133088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463040" y="40325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access only their own cart and orders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6492240" y="1371600"/>
            <a:ext cx="514807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for production</a:t>
            </a:r>
            <a:endParaRPr lang="en-US" sz="2200" dirty="0"/>
          </a:p>
        </p:txBody>
      </p:sp>
      <p:sp>
        <p:nvSpPr>
          <p:cNvPr id="23" name="Shape 15"/>
          <p:cNvSpPr/>
          <p:nvPr/>
        </p:nvSpPr>
        <p:spPr>
          <a:xfrm>
            <a:off x="6766560" y="214884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4" name="Image 5" descr="FolderOpen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144" y="2249424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40664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for secrets</a:t>
            </a:r>
            <a:endParaRPr lang="en-US" sz="1600" dirty="0"/>
          </a:p>
        </p:txBody>
      </p:sp>
      <p:sp>
        <p:nvSpPr>
          <p:cNvPr id="26" name="Shape 17"/>
          <p:cNvSpPr/>
          <p:nvPr/>
        </p:nvSpPr>
        <p:spPr>
          <a:xfrm>
            <a:off x="6766560" y="292608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7" name="Image 6" descr="ShieldAl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7144" y="3026664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7406640" y="2926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in production</a:t>
            </a:r>
            <a:endParaRPr lang="en-US" sz="1600" dirty="0"/>
          </a:p>
        </p:txBody>
      </p:sp>
      <p:sp>
        <p:nvSpPr>
          <p:cNvPr id="29" name="Shape 19"/>
          <p:cNvSpPr/>
          <p:nvPr/>
        </p:nvSpPr>
        <p:spPr>
          <a:xfrm>
            <a:off x="6766560" y="370332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0" name="Image 7" descr="Ke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3803904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7406640" y="3703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unique JWT secret</a:t>
            </a:r>
            <a:endParaRPr lang="en-US" sz="1600" dirty="0"/>
          </a:p>
        </p:txBody>
      </p:sp>
      <p:sp>
        <p:nvSpPr>
          <p:cNvPr id="32" name="Shape 21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DEBD8"/>
          </a:solidFill>
          <a:ln w="12700">
            <a:solidFill>
              <a:srgbClr val="E07A28"/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rgbClr val="C77700"/>
          </a:solidFill>
          <a:ln w="3175">
            <a:solidFill>
              <a:srgbClr val="C77700"/>
            </a:solidFill>
            <a:prstDash val="solid"/>
          </a:ln>
        </p:spPr>
      </p:sp>
      <p:pic>
        <p:nvPicPr>
          <p:cNvPr id="34" name="Image 8" descr="ExclamationTriangle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661" y="5378501"/>
            <a:ext cx="307238" cy="307238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645920" y="49377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limitation: </a:t>
            </a:r>
            <a:r>
              <a:rPr lang="en-US" sz="19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is stateless. The client removes the JWT; token revocation / blacklisting is not implemented.</a:t>
            </a:r>
            <a:endParaRPr lang="en-US" sz="19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&amp; Payment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9" name="Image 1" descr="CreditCar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1665122"/>
            <a:ext cx="281635" cy="28163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6304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Methods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777240" y="21945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Delivery (COD)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and billing info at checkout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311396" y="1371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39996" y="155448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4" name="Image 2" descr="Ticket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0638" y="1665122"/>
            <a:ext cx="281635" cy="28163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25796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Coupon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4539996" y="21945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WELCOME10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off (demo coupon)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8074152" y="1371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302752" y="155448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9" name="Image 3" descr="Truck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3394" y="1665122"/>
            <a:ext cx="281635" cy="28163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988552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Charge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8302752" y="21945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if post-discount subtotal is at least BDT 1,000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flat BDT 60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48640" y="384048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DEBD8"/>
          </a:solidFill>
          <a:ln w="12700">
            <a:solidFill>
              <a:srgbClr val="E07A28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rgbClr val="C77700"/>
          </a:solidFill>
          <a:ln w="3175">
            <a:solidFill>
              <a:srgbClr val="C77700"/>
            </a:solidFill>
            <a:prstDash val="solid"/>
          </a:ln>
        </p:spPr>
      </p:sp>
      <p:pic>
        <p:nvPicPr>
          <p:cNvPr id="24" name="Image 4" descr="ExclamationTriangl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941" y="4098341"/>
            <a:ext cx="307238" cy="30723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554480" y="38404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7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 records the selected method but does not process an online payment gateway transaction.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4892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548640" y="5303520"/>
            <a:ext cx="1828800" cy="73152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548640" y="5303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700" dirty="0"/>
          </a:p>
        </p:txBody>
      </p:sp>
      <p:sp>
        <p:nvSpPr>
          <p:cNvPr id="29" name="Shape 21"/>
          <p:cNvSpPr/>
          <p:nvPr/>
        </p:nvSpPr>
        <p:spPr>
          <a:xfrm>
            <a:off x="2423160" y="5532120"/>
            <a:ext cx="29260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2788920" y="5303520"/>
            <a:ext cx="1828800" cy="73152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2788920" y="5303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32" name="Shape 24"/>
          <p:cNvSpPr/>
          <p:nvPr/>
        </p:nvSpPr>
        <p:spPr>
          <a:xfrm>
            <a:off x="4663440" y="5532120"/>
            <a:ext cx="29260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5029200" y="5303520"/>
            <a:ext cx="1828800" cy="73152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5029200" y="5303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700" dirty="0"/>
          </a:p>
        </p:txBody>
      </p:sp>
      <p:sp>
        <p:nvSpPr>
          <p:cNvPr id="35" name="Shape 27"/>
          <p:cNvSpPr/>
          <p:nvPr/>
        </p:nvSpPr>
        <p:spPr>
          <a:xfrm>
            <a:off x="6903720" y="5532120"/>
            <a:ext cx="292608" cy="274320"/>
          </a:xfrm>
          <a:prstGeom prst="rightArrow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269480" y="5303520"/>
            <a:ext cx="1828800" cy="731520"/>
          </a:xfrm>
          <a:prstGeom prst="roundRect">
            <a:avLst>
              <a:gd name="adj" fmla="val 50000"/>
            </a:avLst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7269480" y="5303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700" dirty="0"/>
          </a:p>
        </p:txBody>
      </p:sp>
      <p:sp>
        <p:nvSpPr>
          <p:cNvPr id="38" name="Shape 30"/>
          <p:cNvSpPr/>
          <p:nvPr/>
        </p:nvSpPr>
        <p:spPr>
          <a:xfrm>
            <a:off x="9692640" y="5303520"/>
            <a:ext cx="1947672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C6B6C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9692640" y="5303520"/>
            <a:ext cx="194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7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325880"/>
            <a:ext cx="5330952" cy="2331720"/>
          </a:xfrm>
          <a:prstGeom prst="roundRect">
            <a:avLst>
              <a:gd name="adj" fmla="val 3922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9" name="Image 1" descr="Ke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156362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1732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822960" y="205740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2296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169164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22960" y="242316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2296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22960" y="278892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22960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69164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/api/auth/profile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309360" y="1325880"/>
            <a:ext cx="5330952" cy="2331720"/>
          </a:xfrm>
          <a:prstGeom prst="roundRect">
            <a:avLst>
              <a:gd name="adj" fmla="val 3922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146304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2" name="Image 2" descr="BoxOpe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156362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7804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6583680" y="205740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58368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45236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583680" y="242316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58368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745236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/api/products/:id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583680" y="278892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583680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745236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/api/products/:id/reviews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548640" y="3840480"/>
            <a:ext cx="5330952" cy="2331720"/>
          </a:xfrm>
          <a:prstGeom prst="roundRect">
            <a:avLst>
              <a:gd name="adj" fmla="val 3922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5" name="Image 3" descr="ShoppingCar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4078224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41732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/ Orders</a:t>
            </a:r>
            <a:endParaRPr lang="en-US" sz="2000" dirty="0"/>
          </a:p>
        </p:txBody>
      </p:sp>
      <p:sp>
        <p:nvSpPr>
          <p:cNvPr id="37" name="Shape 30"/>
          <p:cNvSpPr/>
          <p:nvPr/>
        </p:nvSpPr>
        <p:spPr>
          <a:xfrm>
            <a:off x="822960" y="457200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82296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169164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/api/cart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822960" y="493776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822960" y="4937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1691640" y="4937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/api/cart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822960" y="530352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822960" y="5303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45" name="Text 38"/>
          <p:cNvSpPr txBox="1"/>
          <p:nvPr/>
        </p:nvSpPr>
        <p:spPr>
          <a:xfrm>
            <a:off x="1691640" y="5303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/api/orders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822960" y="566928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822960" y="5669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1691640" y="5669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/api/orders/my</a:t>
            </a:r>
            <a:endParaRPr lang="en-US" sz="1400" dirty="0"/>
          </a:p>
        </p:txBody>
      </p:sp>
      <p:sp>
        <p:nvSpPr>
          <p:cNvPr id="49" name="Shape 42"/>
          <p:cNvSpPr/>
          <p:nvPr/>
        </p:nvSpPr>
        <p:spPr>
          <a:xfrm>
            <a:off x="6309360" y="3840480"/>
            <a:ext cx="5330952" cy="2331720"/>
          </a:xfrm>
          <a:prstGeom prst="roundRect">
            <a:avLst>
              <a:gd name="adj" fmla="val 3922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6537960" y="397764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51" name="Image 4" descr="UserShield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4078224"/>
            <a:ext cx="256032" cy="256032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717804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000" dirty="0"/>
          </a:p>
        </p:txBody>
      </p:sp>
      <p:sp>
        <p:nvSpPr>
          <p:cNvPr id="53" name="Shape 45"/>
          <p:cNvSpPr/>
          <p:nvPr/>
        </p:nvSpPr>
        <p:spPr>
          <a:xfrm>
            <a:off x="6583680" y="457200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658368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55" name="Text 47"/>
          <p:cNvSpPr txBox="1"/>
          <p:nvPr/>
        </p:nvSpPr>
        <p:spPr>
          <a:xfrm>
            <a:off x="745236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/api/admin/dashboard</a:t>
            </a:r>
            <a:endParaRPr lang="en-US" sz="1400" dirty="0"/>
          </a:p>
        </p:txBody>
      </p:sp>
      <p:sp>
        <p:nvSpPr>
          <p:cNvPr id="56" name="Shape 48"/>
          <p:cNvSpPr/>
          <p:nvPr/>
        </p:nvSpPr>
        <p:spPr>
          <a:xfrm>
            <a:off x="6583680" y="493776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6583680" y="4937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58" name="Text 50"/>
          <p:cNvSpPr txBox="1"/>
          <p:nvPr/>
        </p:nvSpPr>
        <p:spPr>
          <a:xfrm>
            <a:off x="7452360" y="4937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/api/admin/products</a:t>
            </a:r>
            <a:endParaRPr lang="en-US" sz="1400" dirty="0"/>
          </a:p>
        </p:txBody>
      </p:sp>
      <p:sp>
        <p:nvSpPr>
          <p:cNvPr id="59" name="Shape 51"/>
          <p:cNvSpPr/>
          <p:nvPr/>
        </p:nvSpPr>
        <p:spPr>
          <a:xfrm>
            <a:off x="6583680" y="530352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6583680" y="5303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61" name="Text 53"/>
          <p:cNvSpPr txBox="1"/>
          <p:nvPr/>
        </p:nvSpPr>
        <p:spPr>
          <a:xfrm>
            <a:off x="7452360" y="5303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/api/admin/orders/:id/status</a:t>
            </a:r>
            <a:endParaRPr lang="en-US" sz="14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5669280" cy="4754880"/>
          </a:xfrm>
          <a:prstGeom prst="roundRect">
            <a:avLst>
              <a:gd name="adj" fmla="val 1923"/>
            </a:avLst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68680" y="150876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Muthoy Bazar/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client/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public/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src/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api/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components/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context/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pages/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styles/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server/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controllers/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middleware/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routes/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seed/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EB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92240" y="1371600"/>
            <a:ext cx="5148072" cy="2286000"/>
          </a:xfrm>
          <a:prstGeom prst="roundRect">
            <a:avLst>
              <a:gd name="adj" fmla="val 4000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720840" y="155448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1" name="Image 1" descr="Reac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541" y="167518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06640" y="1554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(client/)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76656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 and components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providers for auth, cart, toast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instance with JWT interceptor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492240" y="3840480"/>
            <a:ext cx="5148072" cy="2286000"/>
          </a:xfrm>
          <a:prstGeom prst="roundRect">
            <a:avLst>
              <a:gd name="adj" fmla="val 4000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720840" y="402336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6" name="Image 2" descr="Serv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1541" y="414406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406640" y="4023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(server/)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6766560" y="47548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and controllers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JWT, roles, uploads, errors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models and seed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/ Demo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371600"/>
            <a:ext cx="533095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1371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home page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2331720"/>
            <a:ext cx="533095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23317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products and categories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3291840"/>
            <a:ext cx="533095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508760" y="3291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products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4251960"/>
            <a:ext cx="533095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508760" y="4251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212080"/>
            <a:ext cx="533095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34924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1508760" y="5212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to cart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6309360" y="1371600"/>
            <a:ext cx="533095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92240" y="150876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492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269480" y="1371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WELCOME10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6309360" y="2331720"/>
            <a:ext cx="533095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492240" y="246888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4922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4" name="Text 30"/>
          <p:cNvSpPr txBox="1"/>
          <p:nvPr/>
        </p:nvSpPr>
        <p:spPr>
          <a:xfrm>
            <a:off x="7269480" y="23317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checkout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6309360" y="3291840"/>
            <a:ext cx="533095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492240" y="342900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4922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7269480" y="3291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order history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6309360" y="4251960"/>
            <a:ext cx="533095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492240" y="438912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4922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2" name="Text 38"/>
          <p:cNvSpPr txBox="1"/>
          <p:nvPr/>
        </p:nvSpPr>
        <p:spPr>
          <a:xfrm>
            <a:off x="7269480" y="4251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admin</a:t>
            </a:r>
            <a:endParaRPr lang="en-US" sz="1800" dirty="0"/>
          </a:p>
        </p:txBody>
      </p:sp>
      <p:sp>
        <p:nvSpPr>
          <p:cNvPr id="43" name="Shape 39"/>
          <p:cNvSpPr/>
          <p:nvPr/>
        </p:nvSpPr>
        <p:spPr>
          <a:xfrm>
            <a:off x="6309360" y="5212080"/>
            <a:ext cx="5330952" cy="822960"/>
          </a:xfrm>
          <a:prstGeom prst="roundRect">
            <a:avLst>
              <a:gd name="adj" fmla="val 11111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492240" y="5349240"/>
            <a:ext cx="548640" cy="54864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49224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6" name="Text 42"/>
          <p:cNvSpPr txBox="1"/>
          <p:nvPr/>
        </p:nvSpPr>
        <p:spPr>
          <a:xfrm>
            <a:off x="7269480" y="5212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admin management features</a:t>
            </a:r>
            <a:endParaRPr lang="en-US" sz="18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 &amp; 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09960" y="457200"/>
            <a:ext cx="502920" cy="50292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4" name="Image 0" descr="ShoppingBask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602" y="56784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Muthoy Bazar  |  CSE Project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132588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9" name="Image 1" descr="CreditCar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79222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1417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SSLCommerz / bKash / Stripe or verified payment gateway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3364992" y="132588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502152" y="169164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3" name="Image 2" descr="TicketAl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179222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096512" y="1417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Database-based coupon system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181344" y="132588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318504" y="169164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17" name="Image 3" descr="CheckCircl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179222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912864" y="1417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and CI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8997696" y="132588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9134856" y="169164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1" name="Image 4" descr="Filter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1792224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729216" y="1417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admin pagination / filtering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548640" y="265176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5" name="Image 5" descr="Bell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3118104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280160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notifications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3364992" y="265176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3502152" y="301752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29" name="Image 6" descr="Truck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2736" y="3118104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096512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tracking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6181344" y="265176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6318504" y="301752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3" name="Image 7" descr="Image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088" y="3118104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912864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optimization, cloud storage, CDN</a:t>
            </a:r>
            <a:endParaRPr lang="en-US" sz="1400" dirty="0"/>
          </a:p>
        </p:txBody>
      </p:sp>
      <p:sp>
        <p:nvSpPr>
          <p:cNvPr id="35" name="Shape 24"/>
          <p:cNvSpPr/>
          <p:nvPr/>
        </p:nvSpPr>
        <p:spPr>
          <a:xfrm>
            <a:off x="8997696" y="265176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E6F3F4"/>
          </a:solidFill>
          <a:ln w="3175">
            <a:solidFill>
              <a:srgbClr val="E6F3F4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9134856" y="3017520"/>
            <a:ext cx="457200" cy="457200"/>
          </a:xfrm>
          <a:prstGeom prst="ellipse">
            <a:avLst/>
          </a:prstGeom>
          <a:solidFill>
            <a:srgbClr val="00838F"/>
          </a:solidFill>
          <a:ln w="3175">
            <a:solidFill>
              <a:srgbClr val="00838F"/>
            </a:solidFill>
            <a:prstDash val="solid"/>
          </a:ln>
        </p:spPr>
      </p:sp>
      <p:pic>
        <p:nvPicPr>
          <p:cNvPr id="37" name="Image 8" descr="ClipboardList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5440" y="3118104"/>
            <a:ext cx="256032" cy="256032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9729216" y="2743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400" dirty="0"/>
          </a:p>
        </p:txBody>
      </p:sp>
      <p:sp>
        <p:nvSpPr>
          <p:cNvPr id="39" name="Shape 27"/>
          <p:cNvSpPr/>
          <p:nvPr/>
        </p:nvSpPr>
        <p:spPr>
          <a:xfrm>
            <a:off x="548640" y="4114800"/>
            <a:ext cx="11091672" cy="2011680"/>
          </a:xfrm>
          <a:prstGeom prst="roundRect">
            <a:avLst>
              <a:gd name="adj" fmla="val 4545"/>
            </a:avLst>
          </a:prstGeom>
          <a:solidFill>
            <a:srgbClr val="1C2B2D"/>
          </a:solidFill>
          <a:ln w="3175">
            <a:solidFill>
              <a:srgbClr val="1C2B2D"/>
            </a:solidFill>
            <a:prstDash val="solid"/>
          </a:ln>
        </p:spPr>
      </p:sp>
      <p:sp>
        <p:nvSpPr>
          <p:cNvPr id="40" name="Text 28"/>
          <p:cNvSpPr txBox="1"/>
          <p:nvPr/>
        </p:nvSpPr>
        <p:spPr>
          <a:xfrm>
            <a:off x="86868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7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1" name="Text 29"/>
          <p:cNvSpPr txBox="1"/>
          <p:nvPr/>
        </p:nvSpPr>
        <p:spPr>
          <a:xfrm>
            <a:off x="868680" y="46634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Muthoy Bazar provides a complete MERN-based e-commerce platform for grocery shopping with customer and administrator workflows, secure authentication, persistent cart/order management, and an extensible architecture.</a:t>
            </a:r>
            <a:endParaRPr lang="en-US" sz="20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C6B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1344</Words>
  <Application>Microsoft Office PowerPoint</Application>
  <PresentationFormat>Widescreen</PresentationFormat>
  <Paragraphs>339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Muthoy Bazar</dc:title>
  <dc:subject>PptxGenJS Presentation</dc:subject>
  <dc:creator>PptxGenJS</dc:creator>
  <cp:lastModifiedBy>Sabiqun Nahar</cp:lastModifiedBy>
  <cp:revision>2</cp:revision>
  <dcterms:created xsi:type="dcterms:W3CDTF">2026-10-06T02:53:16Z</dcterms:created>
  <dcterms:modified xsi:type="dcterms:W3CDTF">2026-10-06T03:00:50Z</dcterms:modified>
</cp:coreProperties>
</file>